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80" r:id="rId6"/>
    <p:sldId id="273" r:id="rId7"/>
    <p:sldId id="258" r:id="rId8"/>
    <p:sldId id="259" r:id="rId9"/>
    <p:sldId id="261" r:id="rId10"/>
    <p:sldId id="262" r:id="rId11"/>
    <p:sldId id="283" r:id="rId12"/>
    <p:sldId id="263" r:id="rId13"/>
    <p:sldId id="264" r:id="rId14"/>
    <p:sldId id="265" r:id="rId15"/>
    <p:sldId id="269" r:id="rId16"/>
    <p:sldId id="270" r:id="rId17"/>
    <p:sldId id="275" r:id="rId18"/>
    <p:sldId id="281" r:id="rId19"/>
    <p:sldId id="284" r:id="rId20"/>
    <p:sldId id="285" r:id="rId21"/>
    <p:sldId id="267" r:id="rId22"/>
    <p:sldId id="271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D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14F410-0FD0-2A56-1DF0-F7A9E5F7D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58D46-A389-588C-1196-DB9C295EA8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303C5-5DED-4384-A542-58240D40FA5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06F91-B0DB-2F3E-4EB0-A829A1DE1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6B11C-063B-9164-0DF6-43DA954C46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970A9-8E4D-4227-9DE0-53F22E716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324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64221-48AF-45CD-AA9B-531221F55DD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BA5BE-96DD-431E-B4C7-A2E7A07B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00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42DD-1192-3524-4625-E4EC390D5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EE2FF-5F33-1607-F439-7C03AFEE8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511A1-CE78-271A-197F-043A693F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96C2-70F1-4D3D-A1C2-EAC79AB25D6F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EA03E-8EA9-68E4-3BA5-31C6BC92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2562-903B-7C97-D4EE-D168AE81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6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83B8-9886-5099-6654-D8C64631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97CD-A6D6-476F-A4E2-E4AF4CA5F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F684D-8045-8C07-8888-A8551891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A9EFE-E45B-4851-8126-44D19BD5CC8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7917-BE57-7E43-D2FA-90C44CEC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0FD1-2976-B0CC-D282-D6DDA8E2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20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E360-4D0F-5B77-2DA2-E9E0A1D6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44A2C-DB13-BA78-CCE4-8D0901C50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E403F-883C-1B9C-9D4A-38D20806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7786-B9D0-4EB2-BE4C-D0A416E849F5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EAE0-635B-947B-DF80-91DB6011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0362F-AAB1-CD01-A6F9-A9CAEF24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50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453E-9BAD-A745-3E9B-3020F301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3CBE6-89B2-B847-294A-845D89D19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D969C-91D7-99BC-DD30-4CE9C8A36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E054A-8FAB-FF94-8763-E2DC124C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6EE2B-218B-48E7-81D4-CF31B3D8641A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17E25-E216-A8C8-FA0C-5BB5D1F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82DC0-A6D3-C967-7A8C-5CF14650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23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38EC-6860-77D7-A018-BBA34993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463B3-B4E4-F0BF-EA95-6C36068A7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4A228-663C-50C0-AF2F-CE376C3BA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1DE3AA-9F55-432E-1D10-FE6FA687D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40353-D4D3-95EE-8822-3613938CC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DD50D-DBD3-9184-087A-1C392AA8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E7DBF-DAC9-44DA-8E57-0CECEFE1F28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1BC46-5EBE-ABD8-1477-880E21D3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49B0F3-39B4-0410-C4DF-0FC2EB70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1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EA53-9D75-27F1-2B5A-54EFE249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C3673-B28E-89E8-12E2-25A215B7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5D46A-BF23-461A-9F48-D6178FE76A1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2D214-9091-7216-4E71-06F1D178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8E145-C48F-06A2-A477-FE36614F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82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513D9-20DE-74BB-CA57-FF12A53F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F1A73-69CB-498B-83B9-6E47A31F363D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57378-B5A7-6A0D-4395-967888FB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F9DE0-4662-6902-C424-C460C906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5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4DE4-885B-D317-EB54-353D9E29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26D5-AFB5-2B0B-A03D-64722B017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3C25C-D479-B917-4B4E-9F69C87AB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EBB41-BF16-5183-F140-233AE8F1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8DDC-4732-48DC-9850-55254A7FA4C1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32604-E220-7279-6030-824A0928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86455-9DC2-D8F2-DC8E-5E392919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0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0886-7CF7-A809-F5DB-E3AFAD53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3A149-4EB4-EBF6-680D-54BE45E7A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1C4F8-B10F-0FB4-C835-EDE2F8753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4720F-2DFC-3C59-C440-26846C5A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1753-08DC-49FC-94BD-4DE011A3B7A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959A6-316B-25D1-E97B-6B526AC8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722D8-708E-C2F6-4862-81529725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94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36C3-EF51-97B1-29C8-AD90615E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87B79-6082-3C25-192A-5216EEEE2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F488B-EAC7-6F86-3662-9D513C37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942-7067-4DA0-A5D9-C7B9DAC8937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7F6EE-F15C-9D7C-84C7-0BEDA8DC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98688-3B03-7C44-7E07-DEE54512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1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4F7C0-019A-5697-20DF-1E169DBEC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9E74E-0709-3799-7E78-00564AE36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CB75-BCF9-97A5-ECC2-20075A9D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732F-1491-4296-B8A5-8613A689109A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B70E4-AF7F-C0B7-B515-6A7B9C028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CC4D-0FCB-0803-1C52-71B2DD2C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6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459CF-E726-6393-2EB2-A77357108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7E432-4ACC-FFEC-5372-959EA7C3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D64F4-49EF-CC81-AA99-CBAB53F1D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DF7D8-93D2-4BB3-A11A-B8C671DBB0E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58A38-4DFC-7B0C-1633-195E43633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1FFC-B57E-191E-DC29-8D0AB5459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E927A-83B3-45FB-9281-0DD968CD80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22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>
            <a:extLst>
              <a:ext uri="{FF2B5EF4-FFF2-40B4-BE49-F238E27FC236}">
                <a16:creationId xmlns:a16="http://schemas.microsoft.com/office/drawing/2014/main" id="{B87E1063-C588-5D74-41E8-DD37719B9B9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6725" y="0"/>
            <a:ext cx="6178550" cy="9918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00BABD-3EB6-5D6A-C862-A8F48FF1DB95}"/>
              </a:ext>
            </a:extLst>
          </p:cNvPr>
          <p:cNvSpPr txBox="1"/>
          <p:nvPr/>
        </p:nvSpPr>
        <p:spPr>
          <a:xfrm>
            <a:off x="0" y="109019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SMART STREET LIGHT FAULT DETECTION &amp; RESPONSE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45576-748E-7219-FAA8-504B324829BD}"/>
              </a:ext>
            </a:extLst>
          </p:cNvPr>
          <p:cNvSpPr txBox="1"/>
          <p:nvPr/>
        </p:nvSpPr>
        <p:spPr>
          <a:xfrm>
            <a:off x="3791553" y="2425198"/>
            <a:ext cx="460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EC3811 - PROJECT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392AF-AF9C-EEF7-299A-39DB757E6084}"/>
              </a:ext>
            </a:extLst>
          </p:cNvPr>
          <p:cNvSpPr txBox="1"/>
          <p:nvPr/>
        </p:nvSpPr>
        <p:spPr>
          <a:xfrm>
            <a:off x="3731940" y="3881974"/>
            <a:ext cx="4739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Chandru S 	412622106002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Keerthika T	412622106011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Arvinth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	412622106016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D189C-2912-FC76-D29A-962C57DF9900}"/>
              </a:ext>
            </a:extLst>
          </p:cNvPr>
          <p:cNvSpPr txBox="1"/>
          <p:nvPr/>
        </p:nvSpPr>
        <p:spPr>
          <a:xfrm>
            <a:off x="3047990" y="529774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Guidence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1A630-642F-A892-4819-F264AC2645DF}"/>
              </a:ext>
            </a:extLst>
          </p:cNvPr>
          <p:cNvSpPr txBox="1"/>
          <p:nvPr/>
        </p:nvSpPr>
        <p:spPr>
          <a:xfrm>
            <a:off x="1233939" y="5759412"/>
            <a:ext cx="9724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Mr.Mohanasundaram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ECE Dept, SVCT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3EEDD-BAB5-A82E-CF54-E5FB5222C825}"/>
              </a:ext>
            </a:extLst>
          </p:cNvPr>
          <p:cNvSpPr txBox="1"/>
          <p:nvPr/>
        </p:nvSpPr>
        <p:spPr>
          <a:xfrm>
            <a:off x="4608870" y="3270914"/>
            <a:ext cx="327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49677-780B-D99A-C7B2-B021FF1BCE8E}"/>
              </a:ext>
            </a:extLst>
          </p:cNvPr>
          <p:cNvSpPr txBox="1"/>
          <p:nvPr/>
        </p:nvSpPr>
        <p:spPr>
          <a:xfrm>
            <a:off x="4936396" y="2813742"/>
            <a:ext cx="2319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04</a:t>
            </a:r>
          </a:p>
        </p:txBody>
      </p:sp>
    </p:spTree>
    <p:extLst>
      <p:ext uri="{BB962C8B-B14F-4D97-AF65-F5344CB8AC3E}">
        <p14:creationId xmlns:p14="http://schemas.microsoft.com/office/powerpoint/2010/main" val="35676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6514-3147-ACD4-BDA5-472B59C8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E6CD2C-7405-A744-5EA3-30AF1A9391F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703A20-1DCB-742C-AB6E-99EF781FA5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08623B-CC4C-E168-C306-2552C8148DC4}"/>
              </a:ext>
            </a:extLst>
          </p:cNvPr>
          <p:cNvSpPr txBox="1"/>
          <p:nvPr/>
        </p:nvSpPr>
        <p:spPr>
          <a:xfrm>
            <a:off x="588624" y="845575"/>
            <a:ext cx="51619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Diagram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</a:p>
          <a:p>
            <a:pPr marL="342900" indent="-342900" algn="just" fontAlgn="ctr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37C99-B44D-4B96-E248-160F0A68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0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E576-A66E-7BA4-0D4B-0235CAA1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5779A7-9FAE-6FE1-43F0-95C8913F543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75320-3DB3-D359-1D4B-A9B37301125D}"/>
              </a:ext>
            </a:extLst>
          </p:cNvPr>
          <p:cNvSpPr txBox="1"/>
          <p:nvPr/>
        </p:nvSpPr>
        <p:spPr>
          <a:xfrm>
            <a:off x="400658" y="1014161"/>
            <a:ext cx="11791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cost-effective row-wise streetlight monitoring system.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hardware cost and system complexity.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automatic fault detection and response.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A34C0-C379-C480-7496-B6AA1653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AACEB-87F1-E6F4-A9F1-FAE53FCE4E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7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3F02DC-E4D8-C7A1-1CAA-4C7FFE781BA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A94B7C-E646-693E-1085-F0A7F92C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2F149-B439-225F-B1D2-17AA7E3263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461116-69B3-EAB6-A3C2-0BD6CCD2B23A}"/>
              </a:ext>
            </a:extLst>
          </p:cNvPr>
          <p:cNvSpPr txBox="1"/>
          <p:nvPr/>
        </p:nvSpPr>
        <p:spPr>
          <a:xfrm>
            <a:off x="200329" y="901970"/>
            <a:ext cx="117913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 lighting plays a vital role in ensuring road safety, visibility, and security in both urban and rural areas.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streetlight systems depend on manual inspection, leading to delayed fault detection and higher maintenance effort.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issues such as lamp failure, power fluctuations, and low illumination are not identified in real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IoT-based solutions improve automation but require multiple components per light, increasing cost and complexity.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scalable, cost-effective, and efficient monitoring system for large-scale deployment.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3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82DB-37AC-77FA-7370-EF211843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BE0398-C277-9912-9464-F61EA63883C4}"/>
              </a:ext>
            </a:extLst>
          </p:cNvPr>
          <p:cNvSpPr txBox="1"/>
          <p:nvPr/>
        </p:nvSpPr>
        <p:spPr>
          <a:xfrm>
            <a:off x="0" y="-1248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AF467-3080-38F1-1E7E-94D330DFC56E}"/>
              </a:ext>
            </a:extLst>
          </p:cNvPr>
          <p:cNvSpPr txBox="1"/>
          <p:nvPr/>
        </p:nvSpPr>
        <p:spPr>
          <a:xfrm>
            <a:off x="307943" y="969473"/>
            <a:ext cx="115761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streetlight systems rely on manual inspection or public complaints.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delayed fault detection and increased maintenance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Pole-wise IoT systems use separate components for each streetlight.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hardware cost and system complexity.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transmission from every pole is unnecessary.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 higher network traffic and processing load.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Faults like lamp failure and overload are not detected instantly.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energy wastage and reduced public safety.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scalable and cost-effective monitoring approach.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for large-scale and rural streetlight deployments.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436E68-27AB-1106-C7FA-32141A90A0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2D8CA-CD20-6E73-6B03-CB3CC9C0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83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F3CB-2100-B31D-6AF4-10BE71CD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CF601C-FA1E-CA95-362B-621E8F120C38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02B7F-54CC-E2A8-0535-C0D281463762}"/>
              </a:ext>
            </a:extLst>
          </p:cNvPr>
          <p:cNvSpPr txBox="1"/>
          <p:nvPr/>
        </p:nvSpPr>
        <p:spPr>
          <a:xfrm>
            <a:off x="174516" y="1103793"/>
            <a:ext cx="1179134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ROW-WISE MONITORING ARCHITECTURE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centralized ESP32 controller to monitor a group of streetlights instead of individual pole-based systems, reducing hardware complexity and improving system management.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FAULT DETECTION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analyzes voltage and current parameters of the entire row to detect faults such as lamp failure, overload, open circuit, and short circuit conditions.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SCALABLE DESIGN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redundant components like separate controllers and communication modules for each pole, reducing cost, minimizing data transmission, and enabling easy large-scale deployment.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1A4F0-4EE9-1ACD-346E-153A578D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1FFE3-CBDD-2BFD-1B56-591D3A797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2A12-5DCA-710A-4839-C6439B28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25DF20-45C0-F0A7-B023-AE3A6FBD4CA6}"/>
              </a:ext>
            </a:extLst>
          </p:cNvPr>
          <p:cNvSpPr txBox="1"/>
          <p:nvPr/>
        </p:nvSpPr>
        <p:spPr>
          <a:xfrm>
            <a:off x="6248399" y="7226"/>
            <a:ext cx="5304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2E5D1-6593-526E-EB20-61C884C790DC}"/>
              </a:ext>
            </a:extLst>
          </p:cNvPr>
          <p:cNvSpPr txBox="1"/>
          <p:nvPr/>
        </p:nvSpPr>
        <p:spPr>
          <a:xfrm>
            <a:off x="0" y="-1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9F850-10DC-93EC-EC6D-F1E376F1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C13104-AB46-1A0B-6902-6A3F4D89D3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D2848C-9193-399E-1B51-D8D06D8A2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993" y="852801"/>
            <a:ext cx="6003993" cy="5426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DF0491-2185-B160-E8E9-7610DF4FB3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65"/>
          <a:stretch>
            <a:fillRect/>
          </a:stretch>
        </p:blipFill>
        <p:spPr>
          <a:xfrm>
            <a:off x="0" y="761485"/>
            <a:ext cx="6003993" cy="551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9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3A55-DD63-E669-F13F-5CC39A8A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D7A3A-ED74-A57A-E2E2-5603FD789176}"/>
              </a:ext>
            </a:extLst>
          </p:cNvPr>
          <p:cNvSpPr txBox="1"/>
          <p:nvPr/>
        </p:nvSpPr>
        <p:spPr>
          <a:xfrm>
            <a:off x="0" y="-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E330EC-D160-C418-7CBC-239AF2776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91378"/>
              </p:ext>
            </p:extLst>
          </p:nvPr>
        </p:nvGraphicFramePr>
        <p:xfrm>
          <a:off x="88491" y="899161"/>
          <a:ext cx="12022228" cy="5899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257">
                  <a:extLst>
                    <a:ext uri="{9D8B030D-6E8A-4147-A177-3AD203B41FA5}">
                      <a16:colId xmlns:a16="http://schemas.microsoft.com/office/drawing/2014/main" val="1154682900"/>
                    </a:ext>
                  </a:extLst>
                </a:gridCol>
                <a:gridCol w="1478141">
                  <a:extLst>
                    <a:ext uri="{9D8B030D-6E8A-4147-A177-3AD203B41FA5}">
                      <a16:colId xmlns:a16="http://schemas.microsoft.com/office/drawing/2014/main" val="1238025343"/>
                    </a:ext>
                  </a:extLst>
                </a:gridCol>
                <a:gridCol w="2266485">
                  <a:extLst>
                    <a:ext uri="{9D8B030D-6E8A-4147-A177-3AD203B41FA5}">
                      <a16:colId xmlns:a16="http://schemas.microsoft.com/office/drawing/2014/main" val="871346545"/>
                    </a:ext>
                  </a:extLst>
                </a:gridCol>
                <a:gridCol w="2956287">
                  <a:extLst>
                    <a:ext uri="{9D8B030D-6E8A-4147-A177-3AD203B41FA5}">
                      <a16:colId xmlns:a16="http://schemas.microsoft.com/office/drawing/2014/main" val="3966720531"/>
                    </a:ext>
                  </a:extLst>
                </a:gridCol>
                <a:gridCol w="2365029">
                  <a:extLst>
                    <a:ext uri="{9D8B030D-6E8A-4147-A177-3AD203B41FA5}">
                      <a16:colId xmlns:a16="http://schemas.microsoft.com/office/drawing/2014/main" val="3642563023"/>
                    </a:ext>
                  </a:extLst>
                </a:gridCol>
                <a:gridCol w="2365029">
                  <a:extLst>
                    <a:ext uri="{9D8B030D-6E8A-4147-A177-3AD203B41FA5}">
                      <a16:colId xmlns:a16="http://schemas.microsoft.com/office/drawing/2014/main" val="704848214"/>
                    </a:ext>
                  </a:extLst>
                </a:gridCol>
              </a:tblGrid>
              <a:tr h="628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Improvements in Your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470584"/>
                  </a:ext>
                </a:extLst>
              </a:tr>
              <a:tr h="116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Shaheen et al.,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Predictive Control for Adaptive Energy-Efficient Street Lighting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MPC for adaptive lighting; improves energy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simple real-time fault detection with low-cost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775367"/>
                  </a:ext>
                </a:extLst>
              </a:tr>
              <a:tr h="986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Bruno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Frequency Support Through LED Street Lighting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LED lighting for grid frequency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grid, not fault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fault detection and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377554"/>
                  </a:ext>
                </a:extLst>
              </a:tr>
              <a:tr h="1110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et al., 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Fault Detection in Smart Grids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ML models for predictive fault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and high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threshold-based simple detection (current + LDR)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358622"/>
                  </a:ext>
                </a:extLst>
              </a:tr>
              <a:tr h="986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al.,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Street Lighting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IoT for automated streetlight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proper fault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row-wise fault monitoring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37847"/>
                  </a:ext>
                </a:extLst>
              </a:tr>
              <a:tr h="986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Thungtong et al.,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Control System for Street Lighting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NB-IoT and web-based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scheduling, no real-time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real-time fault detection and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134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D2745F8-7AE9-37E8-7A72-A1A1BB9AE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3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4E6F-1F85-73F5-BBB4-4F33BF62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EFD024-0BA5-4AB8-4E6B-7E9AD3E2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30" b="23161"/>
          <a:stretch>
            <a:fillRect/>
          </a:stretch>
        </p:blipFill>
        <p:spPr>
          <a:xfrm>
            <a:off x="312174" y="747252"/>
            <a:ext cx="6971064" cy="5974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FE98BB-91D0-C009-7DCF-D33B9D811347}"/>
              </a:ext>
            </a:extLst>
          </p:cNvPr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D56F9-CF51-079E-1B39-31995E0DB87A}"/>
              </a:ext>
            </a:extLst>
          </p:cNvPr>
          <p:cNvSpPr txBox="1"/>
          <p:nvPr/>
        </p:nvSpPr>
        <p:spPr>
          <a:xfrm>
            <a:off x="7116089" y="1472205"/>
            <a:ext cx="49087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monitors the total output current of a streetlight row.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abnormal fluctuation from the predefined current range indicates a fault.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detects this deviation, sends the data to the server, updates the fault location on the map, and alerts the nearest service center for immediate 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E7108-C1EB-FC19-C342-32A5CC53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778EF-41A8-6F95-9869-169DC91276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91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D233-0B87-18B8-1EA1-6E0E2BE7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F7C47E-6593-086E-C340-194134833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9" b="21434"/>
          <a:stretch>
            <a:fillRect/>
          </a:stretch>
        </p:blipFill>
        <p:spPr>
          <a:xfrm>
            <a:off x="7541342" y="973394"/>
            <a:ext cx="4650657" cy="58846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34B13-B9FA-7691-9C5C-01149CC1A2E7}"/>
              </a:ext>
            </a:extLst>
          </p:cNvPr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8D018-E3F9-3640-07EF-547B59F25AD7}"/>
              </a:ext>
            </a:extLst>
          </p:cNvPr>
          <p:cNvSpPr txBox="1"/>
          <p:nvPr/>
        </p:nvSpPr>
        <p:spPr>
          <a:xfrm>
            <a:off x="174516" y="1244723"/>
            <a:ext cx="7602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continuously initializes and monitors the system by reading real-time sensor data such as output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and LDR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validates the data and compares it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threshold limits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abnormal current fluctuations.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fault is detected, the system classifies the fault type and immediately sends an alert through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Wifi_Module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server.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fault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is updated on the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data is stored in the database for future analysis, and the system automatically resumes real-time monitoring to ensure uninterrupted operation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80DA8-9654-B3B4-9414-059123F7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4F07A-9C34-4E83-CCD1-9C79B2B5FE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61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D4A44-4AD0-6425-EFCE-D6E0F8395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881215-E09B-1776-083E-62EE4C98B197}"/>
              </a:ext>
            </a:extLst>
          </p:cNvPr>
          <p:cNvSpPr txBox="1"/>
          <p:nvPr/>
        </p:nvSpPr>
        <p:spPr>
          <a:xfrm>
            <a:off x="3" y="0"/>
            <a:ext cx="12191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COMPONENT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B74F7D-38F4-2719-C158-4119D63C8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495715"/>
              </p:ext>
            </p:extLst>
          </p:nvPr>
        </p:nvGraphicFramePr>
        <p:xfrm>
          <a:off x="101599" y="1342949"/>
          <a:ext cx="11988801" cy="4516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7507">
                  <a:extLst>
                    <a:ext uri="{9D8B030D-6E8A-4147-A177-3AD203B41FA5}">
                      <a16:colId xmlns:a16="http://schemas.microsoft.com/office/drawing/2014/main" val="3600204882"/>
                    </a:ext>
                  </a:extLst>
                </a:gridCol>
                <a:gridCol w="2259032">
                  <a:extLst>
                    <a:ext uri="{9D8B030D-6E8A-4147-A177-3AD203B41FA5}">
                      <a16:colId xmlns:a16="http://schemas.microsoft.com/office/drawing/2014/main" val="406188448"/>
                    </a:ext>
                  </a:extLst>
                </a:gridCol>
                <a:gridCol w="2272070">
                  <a:extLst>
                    <a:ext uri="{9D8B030D-6E8A-4147-A177-3AD203B41FA5}">
                      <a16:colId xmlns:a16="http://schemas.microsoft.com/office/drawing/2014/main" val="2535550939"/>
                    </a:ext>
                  </a:extLst>
                </a:gridCol>
                <a:gridCol w="1836994">
                  <a:extLst>
                    <a:ext uri="{9D8B030D-6E8A-4147-A177-3AD203B41FA5}">
                      <a16:colId xmlns:a16="http://schemas.microsoft.com/office/drawing/2014/main" val="3606725903"/>
                    </a:ext>
                  </a:extLst>
                </a:gridCol>
                <a:gridCol w="4863198">
                  <a:extLst>
                    <a:ext uri="{9D8B030D-6E8A-4147-A177-3AD203B41FA5}">
                      <a16:colId xmlns:a16="http://schemas.microsoft.com/office/drawing/2014/main" val="594522854"/>
                    </a:ext>
                  </a:extLst>
                </a:gridCol>
              </a:tblGrid>
              <a:tr h="350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325962"/>
                  </a:ext>
                </a:extLst>
              </a:tr>
              <a:tr h="69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 Streetlight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roadway illumination with high energy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994656"/>
                  </a:ext>
                </a:extLst>
              </a:tr>
              <a:tr h="69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 Sensor (GL5528)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Ambient Light Intensity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Day/Night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automatic ON/OFF control based on light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800039"/>
                  </a:ext>
                </a:extLst>
              </a:tr>
              <a:tr h="69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Sensor (ACS712)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0.05 A or &gt; 0.5 A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lamp failure, overload, or abnormal current fluctuation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647079"/>
                  </a:ext>
                </a:extLst>
              </a:tr>
              <a:tr h="69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(WROOM 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Input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Beyond defined thresholds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 data and controls the monitoring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155333"/>
                  </a:ext>
                </a:extLst>
              </a:tr>
              <a:tr h="69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/ 12V Regulated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stable power to controller and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164013"/>
                  </a:ext>
                </a:extLst>
              </a:tr>
              <a:tr h="69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 / Cloud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data and updates dashboard display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976895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C30CB-ACCA-9086-7088-89DFA896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AC859-EF24-1C99-E981-CE076AE092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3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A33D-2EA2-E738-985D-D5D9ABB7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4C17253-1CC9-0C14-0B8E-217AEF8BC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94" b="5520"/>
          <a:stretch>
            <a:fillRect/>
          </a:stretch>
        </p:blipFill>
        <p:spPr>
          <a:xfrm>
            <a:off x="-1" y="1103793"/>
            <a:ext cx="12192000" cy="55060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427391-6D20-FDAD-A190-7D8096121EF3}"/>
              </a:ext>
            </a:extLst>
          </p:cNvPr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SIMULATION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A5EA3-46ED-3EE2-97E6-D3B2B7A0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8D1EAC-5F70-67D9-E16D-55AF661952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D3A2-CC7D-61F7-CFFE-EA561713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1B320-4911-1D79-9863-1EE3ACBCEF5B}"/>
              </a:ext>
            </a:extLst>
          </p:cNvPr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SIMULATION OUTPUT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C22EB-2C74-8EFE-24DA-134CC93A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C0E8D-71F6-70A4-A3FA-4FE9CB036D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D7F6B-05CF-5FB6-21B6-451606C8B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9" r="24643"/>
          <a:stretch>
            <a:fillRect/>
          </a:stretch>
        </p:blipFill>
        <p:spPr>
          <a:xfrm>
            <a:off x="1502227" y="670335"/>
            <a:ext cx="9187543" cy="586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9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4DB6-B9E5-4902-81C4-30718CA7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62E5D-AADE-F25F-DFDD-DD343F99119F}"/>
              </a:ext>
            </a:extLst>
          </p:cNvPr>
          <p:cNvSpPr txBox="1"/>
          <p:nvPr/>
        </p:nvSpPr>
        <p:spPr>
          <a:xfrm>
            <a:off x="19666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SIMULATION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402C5-44FF-D873-E9F1-D529CBBCC5FE}"/>
              </a:ext>
            </a:extLst>
          </p:cNvPr>
          <p:cNvSpPr txBox="1"/>
          <p:nvPr/>
        </p:nvSpPr>
        <p:spPr>
          <a:xfrm>
            <a:off x="19666" y="1051835"/>
            <a:ext cx="121723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Voltage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Current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values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streetlight.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Formulas Used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= (ADC × 3.3) / 4095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= (Voltage / 3.3) × 5A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raw = Brightness × 16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Value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1000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as minimum brightness level to ensure proper illumination and avoid false fault detection.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LDR raw &lt; 1000 → insufficient brightness → FAULT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LDR raw ≥ 1000 → normal brightness → WORKING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from 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= 624 (&lt;1000) → FAULT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= 4080 (&gt;1000) → WORKING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678BB-4855-6BCD-8FA9-08C77E39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4619D-3FCC-BB20-8D8B-C0A0781B26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5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51CC-5B55-673C-1BB8-768756A4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58DDD1-C882-C344-D7A6-EB9FFEDBF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484" y="845575"/>
            <a:ext cx="6233031" cy="58602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55F8E9-C417-58A8-4782-7BA707EEB9D0}"/>
              </a:ext>
            </a:extLst>
          </p:cNvPr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FF29A-8AE5-66C2-1234-699AD4EC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BE5E58-465A-84E3-5CFA-E5B518DB73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3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C76E5-A03C-6923-7420-30F64CD0B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305676-831C-349F-E185-16AD43F7130F}"/>
              </a:ext>
            </a:extLst>
          </p:cNvPr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DA09E-B3BA-DA4A-4650-BEF89C56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191DED-1195-8A77-061C-59A902BDF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D2DC93-B7A5-1A7C-52B8-D6D67CB5E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" t="9425" r="5727" b="18423"/>
          <a:stretch>
            <a:fillRect/>
          </a:stretch>
        </p:blipFill>
        <p:spPr>
          <a:xfrm>
            <a:off x="1002918" y="774151"/>
            <a:ext cx="9893681" cy="571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31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ACA5-2BF6-F332-9B3B-EA30CA23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BEDF5-75E8-9465-FF3B-A9745D06C6A9}"/>
              </a:ext>
            </a:extLst>
          </p:cNvPr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Web-Based Streetlight Monitoring Interface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867216-E000-1C90-6B60-474C9A8B5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705017-FE5F-EF8E-8165-4FE5AC03F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0D0CB-9842-EA91-F221-E78B2245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0" y="1354764"/>
            <a:ext cx="11610993" cy="436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40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3EB8-E9F2-6B8F-3D78-F42DD126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AA013F-28B7-5BA5-64C5-965BE879965B}"/>
              </a:ext>
            </a:extLst>
          </p:cNvPr>
          <p:cNvSpPr txBox="1"/>
          <p:nvPr/>
        </p:nvSpPr>
        <p:spPr>
          <a:xfrm>
            <a:off x="0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582EC-3A4D-4103-5FE3-85EF6D616F57}"/>
              </a:ext>
            </a:extLst>
          </p:cNvPr>
          <p:cNvSpPr txBox="1"/>
          <p:nvPr/>
        </p:nvSpPr>
        <p:spPr>
          <a:xfrm>
            <a:off x="195941" y="646331"/>
            <a:ext cx="118001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Row-wise monitoring approach reduces the number of sensors and controllers required.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System accurately detects faults using current and brightness (LDR) threshold analysis.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Reduces overall cost, power consumption, and hardware complexity compared to existing systems.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Minimizes unnecessary data transmission and improves system efficiency.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AD51E-89FC-9258-DAD4-9E143B5A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FF4DA-B4F6-A783-C8B3-BB65B54F30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F373F4-FE19-D949-EC25-9FA704F559E5}"/>
              </a:ext>
            </a:extLst>
          </p:cNvPr>
          <p:cNvSpPr txBox="1"/>
          <p:nvPr/>
        </p:nvSpPr>
        <p:spPr>
          <a:xfrm>
            <a:off x="1" y="37861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FUTURE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BA720-7EF6-AD0E-F4F0-8FD1A3831CE6}"/>
              </a:ext>
            </a:extLst>
          </p:cNvPr>
          <p:cNvSpPr txBox="1"/>
          <p:nvPr/>
        </p:nvSpPr>
        <p:spPr>
          <a:xfrm>
            <a:off x="195941" y="4594324"/>
            <a:ext cx="118001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Integration with cloud platforms for centralized monitoring and data storage.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Integration with smart city infrastructure and automated energy management systems.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Enhancement with adaptive lighting control based on traffic and environmental conditions.</a:t>
            </a:r>
          </a:p>
        </p:txBody>
      </p:sp>
    </p:spTree>
    <p:extLst>
      <p:ext uri="{BB962C8B-B14F-4D97-AF65-F5344CB8AC3E}">
        <p14:creationId xmlns:p14="http://schemas.microsoft.com/office/powerpoint/2010/main" val="328443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2524-8D96-0929-B6D1-8717F2B7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0DFC36-17E0-62F1-5D18-73578091F72D}"/>
              </a:ext>
            </a:extLst>
          </p:cNvPr>
          <p:cNvSpPr txBox="1"/>
          <p:nvPr/>
        </p:nvSpPr>
        <p:spPr>
          <a:xfrm>
            <a:off x="1" y="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38979-A409-5C44-F336-E3DF77200F24}"/>
              </a:ext>
            </a:extLst>
          </p:cNvPr>
          <p:cNvSpPr txBox="1"/>
          <p:nvPr/>
        </p:nvSpPr>
        <p:spPr>
          <a:xfrm>
            <a:off x="0" y="1103793"/>
            <a:ext cx="12192000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Abdelaziz, Amr Y., et al. "Artificial Intelligence Techniques for Fault Diagnosis in Electrical Power Systems: A Review." International Journal of Electrical Power &amp; Energy Systems, vol. 120, 2020, p. 106008.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Alhelou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Hassan Haes, et al. "A Survey on Power System Blackout and Cascading Events: Research Motivations and Challenges." Energies, vol. 12, no. 4, 2019, p. 682.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Arif, Anwaar, et al. "Fault Detection and Localization in Smart Grids Using Machine Learning and Computational Intelligence: A Survey." Energies, vol. 14, no. 4, 2021, p. 985.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Aziz, Tariq, et al. "A Review on Artificial Intelligence-Based Techniques for Fault Diagnosis in Power Electronics and Electrical Machines." Energies, vol. 13, no. 18, 2020, p. 4813.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Borges, Cláudio L. T., et al. "A Comprehensive Review on Phasor Measurement Unit-Based Fault Location Approaches in Transmission Lines." Electric Power Systems Research, vol. 189, 2020, p. 106602.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Chen, Chen, et al. "Machine Learning Based Fault Detection in Power Systems." IEEE Transactions on Smart Grid, vol. 7, no. 5, 2016, pp. 2564–2573.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Ding, Tao, et al. "Fault Detection, Classification, and Location for Transmission Lines and Distribution Systems: A Review on the Methods." High Voltage, vol. 1, no. 1, 2016, pp. 25–33.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Du, Wei, et al. "Deep Learning-Based Fault Detection and Isolation in Industrial Processes." IEEE Transactions on Industrial Informatics, vol. 16, no. 5, 2020, pp. 3168–3177.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Gao, Feng, et al. "A Review on Fault Diagnosis Methods for Power Electronic Converters." IEEE Transactions on Power Electronics, vol. 32, no. 7, 2017, pp. 5996–6014.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Ghayoor, Ali, et al. "A Comprehensive Review on Fault Diagnosis and Protection Methods for Microgrids." Energies, vol. 13, no. 16, 2020, p. 4095.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Gómez, José R., et al. "A Review on Intelligent Fault Diagnosis Techniques in Power Transmission Systems." Energies, vol. 13, no. 22, 2020, p. 6004.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Hajipour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Ehsan, et al. "A Review on Fault Detection and Diagnosis Techniques: Applications in Power Systems." Journal of Electrical Engineering &amp; Technology, vol. 15, 2020, pp. 1859–1873. 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Hussain, Sadia, et al. "A Review on Machine Learning and Deep Learning Applications for Smart Grid Fault Detection." Energies, vol. 14, no. 9, 2021, p. 2387.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E5C9-0710-4EE0-1B57-E23F28C9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704A7-513B-C4C3-B570-FE5FD1DD08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1" y="0"/>
            <a:ext cx="914399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4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2C42-FD42-2E3A-D0E7-7DAAA2CC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F2A656-D790-D17E-2FDD-3D65E3AA1D08}"/>
              </a:ext>
            </a:extLst>
          </p:cNvPr>
          <p:cNvSpPr txBox="1"/>
          <p:nvPr/>
        </p:nvSpPr>
        <p:spPr>
          <a:xfrm>
            <a:off x="1986116" y="3013501"/>
            <a:ext cx="8219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D2B30A-C54E-EA81-E1C3-8FF106A4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E927A-83B3-45FB-9281-0DD968CD80E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31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0DADC83E385428F75524A35CCD331" ma:contentTypeVersion="4" ma:contentTypeDescription="Create a new document." ma:contentTypeScope="" ma:versionID="9e69650fb662fe7fa27541f73b512e05">
  <xsd:schema xmlns:xsd="http://www.w3.org/2001/XMLSchema" xmlns:xs="http://www.w3.org/2001/XMLSchema" xmlns:p="http://schemas.microsoft.com/office/2006/metadata/properties" xmlns:ns3="ec818f0c-9ee4-41fa-b6ab-4027b125ccf6" targetNamespace="http://schemas.microsoft.com/office/2006/metadata/properties" ma:root="true" ma:fieldsID="77e916f6696d7d819db47364f6508934" ns3:_="">
    <xsd:import namespace="ec818f0c-9ee4-41fa-b6ab-4027b125ccf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18f0c-9ee4-41fa-b6ab-4027b125ccf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6A8EA9-524E-4585-A1F5-0ED057A903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1101D6-C33F-49F2-AE87-450C3412B563}">
  <ds:schemaRefs>
    <ds:schemaRef ds:uri="http://www.w3.org/XML/1998/namespace"/>
    <ds:schemaRef ds:uri="http://purl.org/dc/terms/"/>
    <ds:schemaRef ds:uri="ec818f0c-9ee4-41fa-b6ab-4027b125ccf6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B0A5A15-5DBB-42C4-8B84-1C5FBC418A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818f0c-9ee4-41fa-b6ab-4027b125cc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1618</Words>
  <Application>Microsoft Office PowerPoint</Application>
  <PresentationFormat>Widescreen</PresentationFormat>
  <Paragraphs>198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S0311213</dc:creator>
  <cp:lastModifiedBy>S0311213</cp:lastModifiedBy>
  <cp:revision>52</cp:revision>
  <dcterms:created xsi:type="dcterms:W3CDTF">2026-02-13T14:00:14Z</dcterms:created>
  <dcterms:modified xsi:type="dcterms:W3CDTF">2026-04-28T20:04:14Z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0x0101009540DADC83E385428F75524A35CCD331</vt:lpwstr>
  </property>
</Properties>
</file>