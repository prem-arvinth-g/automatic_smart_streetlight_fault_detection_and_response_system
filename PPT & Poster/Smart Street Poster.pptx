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B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75EF49-1BA1-4386-A50B-10FB72DE81BA}">
  <a:tblStyle styleId="{6D75EF49-1BA1-4386-A50B-10FB72DE81B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" d="100"/>
          <a:sy n="16" d="100"/>
        </p:scale>
        <p:origin x="163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291840" y="5387342"/>
            <a:ext cx="37307519" cy="1146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486400" y="17289781"/>
            <a:ext cx="32918401" cy="794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/>
            </a:lvl1pPr>
            <a:lvl2pPr lvl="1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/>
            </a:lvl2pPr>
            <a:lvl3pPr lvl="2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/>
            </a:lvl3pPr>
            <a:lvl4pPr lvl="3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4pPr>
            <a:lvl5pPr lvl="4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5pPr>
            <a:lvl6pPr lvl="5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6pPr>
            <a:lvl7pPr lvl="6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7pPr>
            <a:lvl8pPr lvl="7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8pPr>
            <a:lvl9pPr lvl="8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994662" y="22029430"/>
            <a:ext cx="3785616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96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864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3017520" y="8763000"/>
            <a:ext cx="18653759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22219920" y="8763000"/>
            <a:ext cx="18653759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 b="1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 b="1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 b="1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3023242" y="12024360"/>
            <a:ext cx="18568032" cy="17686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22219922" y="8069582"/>
            <a:ext cx="18659477" cy="395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 b="1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 b="1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 b="1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22219922" y="12024360"/>
            <a:ext cx="18659477" cy="17686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120396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5360"/>
            </a:lvl1pPr>
            <a:lvl2pPr marL="914400" lvl="1" indent="-108204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13439"/>
            </a:lvl2pPr>
            <a:lvl3pPr marL="1371600" lvl="2" indent="-96012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11520"/>
            </a:lvl3pPr>
            <a:lvl4pPr marL="1828800" lvl="3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4pPr>
            <a:lvl5pPr marL="2286000" lvl="4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5pPr>
            <a:lvl6pPr marL="2743200" lvl="5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6pPr>
            <a:lvl7pPr marL="3200400" lvl="6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7pPr>
            <a:lvl8pPr marL="3657600" lvl="7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8pPr>
            <a:lvl9pPr marL="4114800" lvl="8" indent="-838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Arial"/>
              <a:buNone/>
              <a:defRPr sz="153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None/>
              <a:defRPr sz="134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None/>
              <a:defRPr sz="11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marL="914400" lvl="1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19"/>
            </a:lvl2pPr>
            <a:lvl3pPr marL="1371600" lvl="2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marL="1828800" lvl="3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marL="2286000" lvl="4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marL="2743200" lvl="5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marL="3200400" lvl="6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marL="3657600" lvl="7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marL="4114800" lvl="8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11502390" y="278131"/>
            <a:ext cx="20886422" cy="3785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22193250" y="10968991"/>
            <a:ext cx="27896822" cy="946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2990852" y="1779270"/>
            <a:ext cx="27896822" cy="2784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sz="211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108204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sz="134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6012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sz="11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3017520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4538959" y="30510488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30998159" y="30510488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57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C2E5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328AA6-AB8B-CDF9-59AB-614A4C670D51}"/>
              </a:ext>
            </a:extLst>
          </p:cNvPr>
          <p:cNvSpPr/>
          <p:nvPr/>
        </p:nvSpPr>
        <p:spPr>
          <a:xfrm>
            <a:off x="-1270000" y="-762000"/>
            <a:ext cx="46431200" cy="34442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1FC5A9-6F36-77DC-2CDE-D73802D2F15E}"/>
              </a:ext>
            </a:extLst>
          </p:cNvPr>
          <p:cNvSpPr/>
          <p:nvPr/>
        </p:nvSpPr>
        <p:spPr>
          <a:xfrm>
            <a:off x="-843940" y="4506685"/>
            <a:ext cx="14660301" cy="2906488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7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215900"/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endParaRPr lang="en-IN" sz="96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57F367-6847-2017-5E6A-6AACC6D5C0E9}"/>
              </a:ext>
            </a:extLst>
          </p:cNvPr>
          <p:cNvSpPr/>
          <p:nvPr/>
        </p:nvSpPr>
        <p:spPr>
          <a:xfrm>
            <a:off x="14590048" y="4506685"/>
            <a:ext cx="14660301" cy="2917371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7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215900"/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endParaRPr lang="en-IN" sz="96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19B2C6-8444-F72F-5310-D8997E45B7DC}"/>
              </a:ext>
            </a:extLst>
          </p:cNvPr>
          <p:cNvSpPr/>
          <p:nvPr/>
        </p:nvSpPr>
        <p:spPr>
          <a:xfrm>
            <a:off x="30024036" y="4397852"/>
            <a:ext cx="14660301" cy="2917371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72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softEdge rad="215900"/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endParaRPr lang="en-IN" sz="96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8976975" y="18765208"/>
            <a:ext cx="29046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AD30E0-6CC9-89D5-BDE1-7C0B728481B6}"/>
              </a:ext>
            </a:extLst>
          </p:cNvPr>
          <p:cNvSpPr/>
          <p:nvPr/>
        </p:nvSpPr>
        <p:spPr>
          <a:xfrm>
            <a:off x="-1270001" y="330869"/>
            <a:ext cx="46380401" cy="36576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Google Shape;94;p13"/>
          <p:cNvSpPr txBox="1"/>
          <p:nvPr/>
        </p:nvSpPr>
        <p:spPr>
          <a:xfrm>
            <a:off x="2387602" y="330868"/>
            <a:ext cx="42773597" cy="365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Automated Smart Street Light Fault Detection and </a:t>
            </a:r>
            <a:r>
              <a:rPr lang="en-US" sz="9600" b="1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Responce</a:t>
            </a:r>
            <a:r>
              <a:rPr lang="en-US" sz="96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System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Chandru S, Keerthika T, Prem </a:t>
            </a:r>
            <a:r>
              <a:rPr lang="en-US" sz="9600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Arvinth</a:t>
            </a:r>
            <a:r>
              <a:rPr lang="en-US" sz="9600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G, Guide: </a:t>
            </a:r>
            <a:r>
              <a:rPr lang="en-US" sz="9600" dirty="0" err="1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Mr.Mohanasundaram</a:t>
            </a:r>
            <a:endParaRPr lang="en-US" sz="8800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15E34-F151-3A57-A1AB-7CBC54DCC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3939" y="330867"/>
            <a:ext cx="3657602" cy="3657602"/>
          </a:xfrm>
          <a:prstGeom prst="rect">
            <a:avLst/>
          </a:prstGeom>
        </p:spPr>
      </p:pic>
      <p:sp>
        <p:nvSpPr>
          <p:cNvPr id="18" name="Google Shape;94;p13">
            <a:extLst>
              <a:ext uri="{FF2B5EF4-FFF2-40B4-BE49-F238E27FC236}">
                <a16:creationId xmlns:a16="http://schemas.microsoft.com/office/drawing/2014/main" id="{8EE18E81-423D-7016-A869-5426F1E0C27E}"/>
              </a:ext>
            </a:extLst>
          </p:cNvPr>
          <p:cNvSpPr txBox="1"/>
          <p:nvPr/>
        </p:nvSpPr>
        <p:spPr>
          <a:xfrm>
            <a:off x="3331487" y="5055868"/>
            <a:ext cx="6289040" cy="89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INTRODUCTION</a:t>
            </a:r>
            <a:endParaRPr lang="en-US" sz="6000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" name="Google Shape;94;p13">
            <a:extLst>
              <a:ext uri="{FF2B5EF4-FFF2-40B4-BE49-F238E27FC236}">
                <a16:creationId xmlns:a16="http://schemas.microsoft.com/office/drawing/2014/main" id="{9083CEA6-E137-688E-A923-DCBFBD2A74D2}"/>
              </a:ext>
            </a:extLst>
          </p:cNvPr>
          <p:cNvSpPr txBox="1"/>
          <p:nvPr/>
        </p:nvSpPr>
        <p:spPr>
          <a:xfrm>
            <a:off x="-298159" y="5948612"/>
            <a:ext cx="13846912" cy="8789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Street lighting is a critical component of urban infrastructure, ensuring safety and visibility. Conventional street lighting systems operate on fixed schedules or manual control, leading to unnecessary energy consumption and delayed fault detection.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advancement of IoT and embedded systems, smart street lighting solutions enable real-time monitoring and adaptive control. These systems can automatically adjust lighting based on environmental conditions and detect failures instantly, improving efficiency and reducing maintenance costs.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designing an intelligent street light monitoring system that enhances energy efficiency, enables remote monitoring, and ensures reliable operation.</a:t>
            </a:r>
          </a:p>
        </p:txBody>
      </p:sp>
      <p:sp>
        <p:nvSpPr>
          <p:cNvPr id="20" name="Google Shape;94;p13">
            <a:extLst>
              <a:ext uri="{FF2B5EF4-FFF2-40B4-BE49-F238E27FC236}">
                <a16:creationId xmlns:a16="http://schemas.microsoft.com/office/drawing/2014/main" id="{2F4CCF76-5E4C-34F7-83CA-CB4A4192A688}"/>
              </a:ext>
            </a:extLst>
          </p:cNvPr>
          <p:cNvSpPr txBox="1"/>
          <p:nvPr/>
        </p:nvSpPr>
        <p:spPr>
          <a:xfrm>
            <a:off x="3331487" y="14809551"/>
            <a:ext cx="6289040" cy="89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IN" sz="6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OBJECTIVES</a:t>
            </a:r>
            <a:endParaRPr lang="en-US" sz="6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" name="Google Shape;94;p13">
            <a:extLst>
              <a:ext uri="{FF2B5EF4-FFF2-40B4-BE49-F238E27FC236}">
                <a16:creationId xmlns:a16="http://schemas.microsoft.com/office/drawing/2014/main" id="{37B6282F-CA37-CABF-BE1D-8F885192C081}"/>
              </a:ext>
            </a:extLst>
          </p:cNvPr>
          <p:cNvSpPr txBox="1"/>
          <p:nvPr/>
        </p:nvSpPr>
        <p:spPr>
          <a:xfrm>
            <a:off x="-398585" y="15779232"/>
            <a:ext cx="13846912" cy="261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street light system that monitors and controls lighting based on environmental conditions.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fault detection and remote monitoring to improve maintenance efficiency.</a:t>
            </a:r>
          </a:p>
        </p:txBody>
      </p:sp>
      <p:sp>
        <p:nvSpPr>
          <p:cNvPr id="24" name="Google Shape;94;p13">
            <a:extLst>
              <a:ext uri="{FF2B5EF4-FFF2-40B4-BE49-F238E27FC236}">
                <a16:creationId xmlns:a16="http://schemas.microsoft.com/office/drawing/2014/main" id="{D0B91384-D5C7-F5B1-32A4-5E86F4112A88}"/>
              </a:ext>
            </a:extLst>
          </p:cNvPr>
          <p:cNvSpPr txBox="1"/>
          <p:nvPr/>
        </p:nvSpPr>
        <p:spPr>
          <a:xfrm>
            <a:off x="996016" y="18592352"/>
            <a:ext cx="11258561" cy="98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SOFTWARE METHODOLOGY</a:t>
            </a:r>
          </a:p>
          <a:p>
            <a:pPr lvl="0" algn="ctr"/>
            <a:endParaRPr lang="en-US" sz="6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9F7C47E-6593-086E-C340-194134833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99" b="21434"/>
          <a:stretch>
            <a:fillRect/>
          </a:stretch>
        </p:blipFill>
        <p:spPr>
          <a:xfrm>
            <a:off x="-398584" y="19641820"/>
            <a:ext cx="13703104" cy="13459460"/>
          </a:xfrm>
          <a:prstGeom prst="rect">
            <a:avLst/>
          </a:prstGeom>
          <a:effectLst>
            <a:softEdge rad="215900"/>
          </a:effectLst>
        </p:spPr>
      </p:pic>
      <p:sp>
        <p:nvSpPr>
          <p:cNvPr id="26" name="Google Shape;94;p13">
            <a:extLst>
              <a:ext uri="{FF2B5EF4-FFF2-40B4-BE49-F238E27FC236}">
                <a16:creationId xmlns:a16="http://schemas.microsoft.com/office/drawing/2014/main" id="{C5CF673D-8CAD-0607-6DE0-1A192B4EC515}"/>
              </a:ext>
            </a:extLst>
          </p:cNvPr>
          <p:cNvSpPr txBox="1"/>
          <p:nvPr/>
        </p:nvSpPr>
        <p:spPr>
          <a:xfrm>
            <a:off x="18002440" y="5055868"/>
            <a:ext cx="7886319" cy="86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CIRCUIT DIAGRAM</a:t>
            </a:r>
            <a:endParaRPr lang="en-US" sz="6000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3EE4FA9-3EB8-F7CB-1A3D-25C02FDE6D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8080" y="6167734"/>
            <a:ext cx="13456920" cy="12859084"/>
          </a:xfrm>
          <a:prstGeom prst="rect">
            <a:avLst/>
          </a:prstGeom>
        </p:spPr>
      </p:pic>
      <p:sp>
        <p:nvSpPr>
          <p:cNvPr id="29" name="Google Shape;94;p13">
            <a:extLst>
              <a:ext uri="{FF2B5EF4-FFF2-40B4-BE49-F238E27FC236}">
                <a16:creationId xmlns:a16="http://schemas.microsoft.com/office/drawing/2014/main" id="{C4512FC5-C8FF-84DE-D546-0BCE877AD2A0}"/>
              </a:ext>
            </a:extLst>
          </p:cNvPr>
          <p:cNvSpPr txBox="1"/>
          <p:nvPr/>
        </p:nvSpPr>
        <p:spPr>
          <a:xfrm>
            <a:off x="31724905" y="5008283"/>
            <a:ext cx="11258561" cy="98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SIMULATION DIAGRAM</a:t>
            </a:r>
            <a:endParaRPr lang="en-US" sz="6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0BA8D8E-ADFA-0641-A4FC-0D2AA690C8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4615" y="6583290"/>
            <a:ext cx="12512429" cy="10453422"/>
          </a:xfrm>
          <a:prstGeom prst="rect">
            <a:avLst/>
          </a:prstGeom>
        </p:spPr>
      </p:pic>
      <p:pic>
        <p:nvPicPr>
          <p:cNvPr id="32" name="table">
            <a:extLst>
              <a:ext uri="{FF2B5EF4-FFF2-40B4-BE49-F238E27FC236}">
                <a16:creationId xmlns:a16="http://schemas.microsoft.com/office/drawing/2014/main" id="{F93D391E-092F-E7B7-397A-262D996206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18080" y="20472102"/>
            <a:ext cx="13456920" cy="7390430"/>
          </a:xfrm>
          <a:prstGeom prst="rect">
            <a:avLst/>
          </a:prstGeom>
        </p:spPr>
      </p:pic>
      <p:sp>
        <p:nvSpPr>
          <p:cNvPr id="33" name="Google Shape;94;p13">
            <a:extLst>
              <a:ext uri="{FF2B5EF4-FFF2-40B4-BE49-F238E27FC236}">
                <a16:creationId xmlns:a16="http://schemas.microsoft.com/office/drawing/2014/main" id="{C51D683A-A379-416B-6442-5E29398FBF89}"/>
              </a:ext>
            </a:extLst>
          </p:cNvPr>
          <p:cNvSpPr txBox="1"/>
          <p:nvPr/>
        </p:nvSpPr>
        <p:spPr>
          <a:xfrm>
            <a:off x="17977038" y="19271409"/>
            <a:ext cx="7886319" cy="86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COMPONENT USED</a:t>
            </a:r>
            <a:endParaRPr lang="en-US" sz="6000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" name="Google Shape;94;p13">
            <a:extLst>
              <a:ext uri="{FF2B5EF4-FFF2-40B4-BE49-F238E27FC236}">
                <a16:creationId xmlns:a16="http://schemas.microsoft.com/office/drawing/2014/main" id="{5E43CAE0-FC83-681B-63A5-ECA5F09B80D5}"/>
              </a:ext>
            </a:extLst>
          </p:cNvPr>
          <p:cNvSpPr txBox="1"/>
          <p:nvPr/>
        </p:nvSpPr>
        <p:spPr>
          <a:xfrm>
            <a:off x="18002440" y="28106780"/>
            <a:ext cx="7886319" cy="86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IN" sz="6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OUTPUT</a:t>
            </a:r>
            <a:endParaRPr lang="en-US" sz="6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" name="Google Shape;94;p13">
            <a:extLst>
              <a:ext uri="{FF2B5EF4-FFF2-40B4-BE49-F238E27FC236}">
                <a16:creationId xmlns:a16="http://schemas.microsoft.com/office/drawing/2014/main" id="{67A178D6-B143-F78D-B272-30AF4CD8DC70}"/>
              </a:ext>
            </a:extLst>
          </p:cNvPr>
          <p:cNvSpPr txBox="1"/>
          <p:nvPr/>
        </p:nvSpPr>
        <p:spPr>
          <a:xfrm>
            <a:off x="31877304" y="22309603"/>
            <a:ext cx="11258561" cy="98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CONCLUSION</a:t>
            </a:r>
            <a:endParaRPr lang="en-US" sz="6000" b="1" dirty="0">
              <a:solidFill>
                <a:srgbClr val="00206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27222E-367C-EED7-7102-182F408C12CA}"/>
              </a:ext>
            </a:extLst>
          </p:cNvPr>
          <p:cNvSpPr txBox="1"/>
          <p:nvPr/>
        </p:nvSpPr>
        <p:spPr>
          <a:xfrm>
            <a:off x="30429200" y="23454089"/>
            <a:ext cx="1346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energy-efficient street lighting with real-time monitoring, automatic control, and quick fault detection for reliable operation.</a:t>
            </a:r>
          </a:p>
        </p:txBody>
      </p:sp>
      <p:sp>
        <p:nvSpPr>
          <p:cNvPr id="40" name="Google Shape;94;p13">
            <a:extLst>
              <a:ext uri="{FF2B5EF4-FFF2-40B4-BE49-F238E27FC236}">
                <a16:creationId xmlns:a16="http://schemas.microsoft.com/office/drawing/2014/main" id="{55858114-4F15-454A-B5C5-F09D06FA04BE}"/>
              </a:ext>
            </a:extLst>
          </p:cNvPr>
          <p:cNvSpPr txBox="1"/>
          <p:nvPr/>
        </p:nvSpPr>
        <p:spPr>
          <a:xfrm>
            <a:off x="34996177" y="25601541"/>
            <a:ext cx="5020816" cy="72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8F5E5A-7DCB-7325-DAE6-7DAA65D5E510}"/>
              </a:ext>
            </a:extLst>
          </p:cNvPr>
          <p:cNvSpPr txBox="1"/>
          <p:nvPr/>
        </p:nvSpPr>
        <p:spPr>
          <a:xfrm>
            <a:off x="30648274" y="26564781"/>
            <a:ext cx="1324292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Abdelaziz, Amr Y., et al. "Artificial Intelligence Techniques for Fault Diagnosis in Electrical Power Systems: A Review." International Journal of Electrical Power &amp; Energy Systems, vol. 120, 2020, p. 106008. </a:t>
            </a:r>
          </a:p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Alhelou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Hassan Haes, et al. "A Survey on Power System Blackout and Cascading Events: Research Motivations and Challenges." Energies, vol. 12, no. 4, 2019, p. 682. </a:t>
            </a:r>
          </a:p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Arif, Anwaar, et al. "Fault Detection and Localization in Smart Grids Using Machine Learning and Computational Intelligence: A Survey." Energies, vol. 14, no. 4, 2021, p. 985.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3928C8-0AF1-2131-0ACC-49FAD1CDB3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4866"/>
          <a:stretch>
            <a:fillRect/>
          </a:stretch>
        </p:blipFill>
        <p:spPr>
          <a:xfrm>
            <a:off x="15118080" y="29272372"/>
            <a:ext cx="13298756" cy="3828908"/>
          </a:xfrm>
          <a:prstGeom prst="rect">
            <a:avLst/>
          </a:prstGeom>
        </p:spPr>
      </p:pic>
      <p:sp>
        <p:nvSpPr>
          <p:cNvPr id="2" name="Google Shape;94;p13">
            <a:extLst>
              <a:ext uri="{FF2B5EF4-FFF2-40B4-BE49-F238E27FC236}">
                <a16:creationId xmlns:a16="http://schemas.microsoft.com/office/drawing/2014/main" id="{EF3682AE-C434-EF95-D7AB-FAC17C0B3BDE}"/>
              </a:ext>
            </a:extLst>
          </p:cNvPr>
          <p:cNvSpPr txBox="1"/>
          <p:nvPr/>
        </p:nvSpPr>
        <p:spPr>
          <a:xfrm>
            <a:off x="31877304" y="17547127"/>
            <a:ext cx="11258561" cy="98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333F2-4416-069D-A23D-5F37C945FC6C}"/>
              </a:ext>
            </a:extLst>
          </p:cNvPr>
          <p:cNvSpPr txBox="1"/>
          <p:nvPr/>
        </p:nvSpPr>
        <p:spPr>
          <a:xfrm>
            <a:off x="30429200" y="18763764"/>
            <a:ext cx="13462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1" indent="-5715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cloud platforms for real-time monitoring and centralized control of street lights. </a:t>
            </a:r>
          </a:p>
          <a:p>
            <a:pPr marL="571500" lvl="1" indent="-5715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AI-based fault prediction and adaptive brightness control to further improve energy efficiency and system reliability.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362</Words>
  <Application>Microsoft Office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S0311213</cp:lastModifiedBy>
  <cp:revision>12</cp:revision>
  <dcterms:modified xsi:type="dcterms:W3CDTF">2026-04-12T06:58:45Z</dcterms:modified>
</cp:coreProperties>
</file>